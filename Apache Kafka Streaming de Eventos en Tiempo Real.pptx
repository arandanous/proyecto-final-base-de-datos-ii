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199A0-DEB9-E74C-9F2E-CFBE53230CC7}" type="datetimeFigureOut">
              <a:rPr lang="es-PA" smtClean="0"/>
              <a:t>03/26/2026</a:t>
            </a:fld>
            <a:endParaRPr lang="es-PA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A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74416-A548-B64E-AAC6-45D1C5D9193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7446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 /><Relationship Id="rId3" Type="http://schemas.openxmlformats.org/officeDocument/2006/relationships/image" Target="../media/image10.jpeg" /><Relationship Id="rId7" Type="http://schemas.openxmlformats.org/officeDocument/2006/relationships/image" Target="../media/image1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3.png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0"/>
            <a:ext cx="5810241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0"/>
            <a:ext cx="21431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592191"/>
            <a:ext cx="5238741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Apache Kafka: La Columna Vertebral del Streaming de Datos Moderno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857250" y="3775277"/>
            <a:ext cx="523874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distribuida para el procesamiento de eventos en tiempo real a gran escala.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857250" y="4586092"/>
            <a:ext cx="5238741" cy="170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Presentado por: </a:t>
            </a:r>
            <a:r>
              <a:rPr lang="es-MX" sz="105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Cristian </a:t>
            </a:r>
            <a:r>
              <a:rPr lang="es-MX" sz="1050" b="1" dirty="0" err="1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Diaz</a:t>
            </a:r>
            <a:r>
              <a:rPr lang="es-MX" sz="105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Carlos Poveda y Roberto Lasso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44903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21431" cy="144903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13231"/>
            <a:ext cx="83581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¿Qué es Apache Kafka?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5813" y="1241868"/>
            <a:ext cx="8358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redefine la gestión de datos como un flujo continuo de eventos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1906237"/>
            <a:ext cx="391477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Definición y Origen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571500" y="2315217"/>
            <a:ext cx="39147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una plataforma de </a:t>
            </a: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de eventos distribuida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código abierto diseñada para capturar, almacenar y procesar datos en tiempo real.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3101029"/>
            <a:ext cx="39147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Desarrollada originalmente por </a:t>
            </a: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manejar miles de millones de eventos diarios y luego donada a la Apache Software Foundation.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57725" y="1706212"/>
            <a:ext cx="3914775" cy="2123480"/>
          </a:xfrm>
          <a:prstGeom prst="rect">
            <a:avLst/>
          </a:prstGeom>
          <a:solidFill>
            <a:srgbClr val="2563EB">
              <a:alpha val="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57725" y="1706212"/>
            <a:ext cx="21431" cy="2123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4743450" y="1991962"/>
            <a:ext cx="374332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Propósito Central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4743450" y="2400942"/>
            <a:ext cx="37433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Actuar como un </a:t>
            </a: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centralizado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permite a las aplicaciones publicar y suscribirse a flujos de registros de manera eficiente y escalable.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43450" y="3186754"/>
            <a:ext cx="37433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la persistencia de datos, lo que significa que los eventos pueden ser almacenados y re-procesados según sea necesario.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44903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21431" cy="144903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13231"/>
            <a:ext cx="83581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 Problema del Acoplamiento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5813" y="1241868"/>
            <a:ext cx="8358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arquitectura tradicional de "punto a punto" no escala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1820512"/>
            <a:ext cx="40576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 Desafío Tradicional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714375" y="2229492"/>
            <a:ext cx="3771900" cy="428625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de Espagueti: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Conexiones directas difíciles de mantener.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14375" y="2729554"/>
            <a:ext cx="3771900" cy="428625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Fuerte Acoplamiento: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Cambios en un sistema afectan a otros.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714375" y="3229617"/>
            <a:ext cx="3771900" cy="428625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Dificultad para Escalar: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Añadir nuevos servicios es costoso.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14375" y="3729679"/>
            <a:ext cx="3771900" cy="214313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de Fallo: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Caídas en cascada entre sistemas.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714375" y="2229492"/>
            <a:ext cx="678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714375" y="2729554"/>
            <a:ext cx="678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714375" y="3229617"/>
            <a:ext cx="678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714375" y="3729679"/>
            <a:ext cx="678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4657725" y="1620487"/>
            <a:ext cx="4057650" cy="2666405"/>
          </a:xfrm>
          <a:prstGeom prst="rect">
            <a:avLst/>
          </a:prstGeom>
          <a:solidFill>
            <a:srgbClr val="2563EB">
              <a:alpha val="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657725" y="1620487"/>
            <a:ext cx="21431" cy="266640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4786313" y="1949100"/>
            <a:ext cx="380047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563E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Solución de Kafka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5072063" y="2358079"/>
            <a:ext cx="3514725" cy="428625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Desacoplamiento Total: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Productores y consumidores no se conocen.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5072063" y="2858142"/>
            <a:ext cx="3514725" cy="428625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Pub/Sub: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Publicación y suscripción eficiente.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5072063" y="3358204"/>
            <a:ext cx="3514725" cy="428625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Buffer de Datos: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Kafka actúa como un amortiguador confiable.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5072063" y="3858267"/>
            <a:ext cx="3514725" cy="428625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Agilidad:</a:t>
            </a: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Añadir nuevos consumidores sin afectar al productor.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5072063" y="2358079"/>
            <a:ext cx="678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5072063" y="2858142"/>
            <a:ext cx="678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072063" y="3358204"/>
            <a:ext cx="678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5072063" y="3858267"/>
            <a:ext cx="678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8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44903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21431" cy="144903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13231"/>
            <a:ext cx="83581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Conceptos Clave (I)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5813" y="1241868"/>
            <a:ext cx="8358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Tópicos y Particiones: Las unidades fundamentales de organización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1970531"/>
            <a:ext cx="2571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Topic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571500" y="2365223"/>
            <a:ext cx="2571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 o categoría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específica donde se almacenan los mensajes de forma lógica.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2905246"/>
            <a:ext cx="2571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Ejemplos comunes incluyen flujos de "pedidos", "clics-web" o "logs-de-error".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286125" y="1970531"/>
            <a:ext cx="2571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Partition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3286125" y="2365223"/>
            <a:ext cx="2571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tópicos se dividen en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particiones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permitir el procesamiento paralelo.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286125" y="2905246"/>
            <a:ext cx="2571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la unidad básica de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 horizontal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paralelismo en el clúster.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000750" y="1970531"/>
            <a:ext cx="257175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Offset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6000750" y="2365223"/>
            <a:ext cx="2571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mensaje dentro de una partición tiene un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identificador único incremental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6000750" y="2905246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Garantiza el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 estricto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lectura de los eventos dentro de una misma partición.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0"/>
            <a:ext cx="8715375" cy="144903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0"/>
            <a:ext cx="21431" cy="144903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600075" y="713231"/>
            <a:ext cx="85439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Conceptos Clave (II)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00075" y="1241868"/>
            <a:ext cx="85439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Productores, Consumidores y Brokers forman el ecosistema de ejecución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57213" y="1963387"/>
            <a:ext cx="183594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Producer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557213" y="2340220"/>
            <a:ext cx="1835944" cy="932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Aplicaciones que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envían y publican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datos a los tópicos de Kafka. Deciden en qué partición escribir basándose en una clave.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2664619" y="1963387"/>
            <a:ext cx="183594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Consumer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2664619" y="2340220"/>
            <a:ext cx="1835944" cy="932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Aplicaciones que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leen y procesan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los datos. Kafka permite que múltiples consumidores lean el mismo flujo de forma independiente.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772025" y="1963387"/>
            <a:ext cx="183594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Broker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4772025" y="2340220"/>
            <a:ext cx="1835944" cy="932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Servidores individuales que forman el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clúster de Kafka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 encargan de recibir, almacenar y servir los mensajes a los clientes.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879431" y="1963387"/>
            <a:ext cx="183594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Consumer Group</a:t>
            </a:r>
            <a:endParaRPr lang="en-US" sz="1295" dirty="0"/>
          </a:p>
        </p:txBody>
      </p:sp>
      <p:sp>
        <p:nvSpPr>
          <p:cNvPr id="14" name="Text 11"/>
          <p:cNvSpPr/>
          <p:nvPr/>
        </p:nvSpPr>
        <p:spPr>
          <a:xfrm>
            <a:off x="6879431" y="2340220"/>
            <a:ext cx="1835944" cy="932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que un conjunto de consumidores se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repartan el trabajo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leer un tópico, garantizando escalabilidad y alta disponibilidad.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3747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21431" cy="13747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13231"/>
            <a:ext cx="83581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Arquitectura Básica y Distribución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5813" y="1167557"/>
            <a:ext cx="8358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diseño distribuido que garantiza alta disponibilidad y rendimiento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1874788"/>
            <a:ext cx="2571750" cy="36254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Clúster de Kafka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571500" y="2365921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clúster es un conjunto de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Brokers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(servidores) que trabajan de forma coordinada.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3073152"/>
            <a:ext cx="25717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estructura permite la </a:t>
            </a: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 horizontal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añadir servidores para manejar más datos sin interrumpir el servicio.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286125" y="1874788"/>
            <a:ext cx="2571750" cy="36254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Replicación de Datos</a:t>
            </a:r>
            <a:endParaRPr lang="en-US" sz="1295" dirty="0"/>
          </a:p>
        </p:txBody>
      </p:sp>
      <p:sp>
        <p:nvSpPr>
          <p:cNvPr id="11" name="Text 8"/>
          <p:cNvSpPr/>
          <p:nvPr/>
        </p:nvSpPr>
        <p:spPr>
          <a:xfrm>
            <a:off x="3286125" y="2365921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copia las particiones en múltiples brokers para asegurar la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tolerancia a fallos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286125" y="3073152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un broker falla, otro toma su lugar como </a:t>
            </a: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líder de la partición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manteniendo los datos disponibles.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000750" y="1874788"/>
            <a:ext cx="2571750" cy="36254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Coordinación</a:t>
            </a:r>
            <a:endParaRPr lang="en-US" sz="1295" dirty="0"/>
          </a:p>
        </p:txBody>
      </p:sp>
      <p:sp>
        <p:nvSpPr>
          <p:cNvPr id="14" name="Text 11"/>
          <p:cNvSpPr/>
          <p:nvPr/>
        </p:nvSpPr>
        <p:spPr>
          <a:xfrm>
            <a:off x="6000750" y="2365921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usó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Zookeeper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gestionar la configuración y el estado del clúster.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6000750" y="3073152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versiones modernas introducen </a:t>
            </a:r>
            <a:r>
              <a:rPr lang="en-US" sz="885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KRaft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eliminando la dependencia externa y mejorando la gestión.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-7144"/>
            <a:ext cx="8572500" cy="144903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-7144"/>
            <a:ext cx="21431" cy="144903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06087"/>
            <a:ext cx="83581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Casos de Uso Reales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5813" y="1234725"/>
            <a:ext cx="8358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impulsa la innovación mediante datos en vivo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2091975"/>
            <a:ext cx="391477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Monitoreo y Logs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571500" y="2468807"/>
            <a:ext cx="39147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Centralización de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rendimiento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registros de errores de miles de servidores en tiempo real para análisis inmediato.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657725" y="2091975"/>
            <a:ext cx="391477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Microservicios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4657725" y="2468807"/>
            <a:ext cx="39147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Comunicación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asíncrona y confiable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servicios independientes, permitiendo que cada uno escale según su propia demanda.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3654670"/>
            <a:ext cx="391477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Transacciones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571500" y="4031503"/>
            <a:ext cx="39147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pedidos en e-commerce y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detección de fraude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bancario procesando millones de eventos en milisegundos.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657725" y="3654670"/>
            <a:ext cx="391477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Notificaciones</a:t>
            </a:r>
            <a:endParaRPr lang="en-US" sz="1295" dirty="0"/>
          </a:p>
        </p:txBody>
      </p:sp>
      <p:sp>
        <p:nvSpPr>
          <p:cNvPr id="14" name="Text 11"/>
          <p:cNvSpPr/>
          <p:nvPr/>
        </p:nvSpPr>
        <p:spPr>
          <a:xfrm>
            <a:off x="4657725" y="4031503"/>
            <a:ext cx="39147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Envío masivo de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personalizadas</a:t>
            </a: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basadas en el comportamiento del usuario capturado al instante por el flujo de datos.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-64294"/>
            <a:ext cx="8572500" cy="14033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-64294"/>
            <a:ext cx="21431" cy="14033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648937"/>
            <a:ext cx="83581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Ventajas Competitivas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5813" y="1131838"/>
            <a:ext cx="8358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Rendimiento extremo y confiabilidad para misiones críticas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1896219"/>
            <a:ext cx="18930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Alta Escalabilidad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71500" y="2210544"/>
            <a:ext cx="1893094" cy="97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añadir brokers sin tiempo de inactividad para manejar </a:t>
            </a:r>
            <a:r>
              <a:rPr lang="en-US" sz="83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petabytes de datos</a:t>
            </a:r>
            <a:r>
              <a:rPr lang="en-US" sz="888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miles de millones de mensajes diarios.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2607469" y="1896219"/>
            <a:ext cx="18930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Tolerancia a Fallos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607469" y="2210544"/>
            <a:ext cx="1893094" cy="97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</a:t>
            </a:r>
            <a:r>
              <a:rPr lang="en-US" sz="83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replicación integrada</a:t>
            </a:r>
            <a:r>
              <a:rPr lang="en-US" sz="888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asegura que los datos sobrevivan incluso si varios servidores del clúster fallan simultáneamente.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4643438" y="1896219"/>
            <a:ext cx="18930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Baja Latencia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643438" y="2210544"/>
            <a:ext cx="1893094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Capaz de procesar millones de mensajes por segundo con </a:t>
            </a:r>
            <a:r>
              <a:rPr lang="en-US" sz="83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retrasos de milisegundos</a:t>
            </a:r>
            <a:r>
              <a:rPr lang="en-US" sz="888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ideal para decisiones en tiempo real.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679406" y="1896219"/>
            <a:ext cx="18930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Persistencia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6679406" y="2210544"/>
            <a:ext cx="1893094" cy="97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mensajes se guardan en disco, permitiendo a los consumidores procesar </a:t>
            </a:r>
            <a:r>
              <a:rPr lang="en-US" sz="83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históricos</a:t>
            </a:r>
            <a:r>
              <a:rPr lang="en-US" sz="888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recuperarse de caídas del sistema.</a:t>
            </a:r>
            <a:endParaRPr lang="en-US" sz="88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4033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21431" cy="14033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13231"/>
            <a:ext cx="83581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Desafíos y Consideraciones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5813" y="1196132"/>
            <a:ext cx="8358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potencia de Kafka conlleva una curva de aprendizaje y gestión técnica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1996232"/>
            <a:ext cx="25717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Complejidad Operativa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571500" y="2373064"/>
            <a:ext cx="25717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Configurar y mantener un clúster de producción requiere </a:t>
            </a:r>
            <a:r>
              <a:rPr lang="en-US" sz="885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conocimientos especializados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infraestructura distribuida y redes.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3324523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gestión de Zookeeper o la migración a KRaft añade capas de administración técnica.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3286125" y="1996232"/>
            <a:ext cx="25717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Gestión de Datos</a:t>
            </a:r>
            <a:endParaRPr lang="en-US" sz="1295" dirty="0"/>
          </a:p>
        </p:txBody>
      </p:sp>
      <p:sp>
        <p:nvSpPr>
          <p:cNvPr id="11" name="Text 8"/>
          <p:cNvSpPr/>
          <p:nvPr/>
        </p:nvSpPr>
        <p:spPr>
          <a:xfrm>
            <a:off x="3286125" y="2373064"/>
            <a:ext cx="25717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manejo de </a:t>
            </a:r>
            <a:r>
              <a:rPr lang="en-US" sz="885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de gran tamaño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puede degradar el rendimiento si no se aplican técnicas de compresión u optimización.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286125" y="3324523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crucial definir políticas de retención de datos para evitar el agotamiento del almacenamiento en disco.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000750" y="1996232"/>
            <a:ext cx="25717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Monitoreo del Lag</a:t>
            </a:r>
            <a:endParaRPr lang="en-US" sz="1295" dirty="0"/>
          </a:p>
        </p:txBody>
      </p:sp>
      <p:sp>
        <p:nvSpPr>
          <p:cNvPr id="14" name="Text 11"/>
          <p:cNvSpPr/>
          <p:nvPr/>
        </p:nvSpPr>
        <p:spPr>
          <a:xfrm>
            <a:off x="6000750" y="2373064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vital vigilar el </a:t>
            </a:r>
            <a:r>
              <a:rPr lang="en-US" sz="885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"Consumer Lag"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asegurar que el procesamiento no se retrase respecto a la producción de datos.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6000750" y="3118805"/>
            <a:ext cx="2571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lag excesivo puede indicar cuellos de botella en la lógica de negocio o falta de recursos en los consumidores.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4033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21431" cy="14033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13231"/>
            <a:ext cx="83581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Demo: Sistema de Pedidos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5813" y="1196132"/>
            <a:ext cx="8358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Visualización práctica del flujo de datos en tiempo real</a:t>
            </a:r>
            <a:endParaRPr lang="en-US" sz="1269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516" y="1955155"/>
            <a:ext cx="450056" cy="400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2601664"/>
            <a:ext cx="252411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Productor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571500" y="2996357"/>
            <a:ext cx="2524116" cy="578644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 una tienda online generando pedidos como </a:t>
            </a:r>
            <a:r>
              <a:rPr lang="en-US" sz="885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"Laptop"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</a:t>
            </a:r>
            <a:r>
              <a:rPr lang="en-US" sz="885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"Mouse"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enviándolos a Kafka.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947" y="1955155"/>
            <a:ext cx="400050" cy="400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09928" y="2601664"/>
            <a:ext cx="252411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Kafka (Topic)</a:t>
            </a:r>
            <a:endParaRPr lang="en-US" sz="1397" dirty="0"/>
          </a:p>
        </p:txBody>
      </p:sp>
      <p:sp>
        <p:nvSpPr>
          <p:cNvPr id="12" name="Text 7"/>
          <p:cNvSpPr/>
          <p:nvPr/>
        </p:nvSpPr>
        <p:spPr>
          <a:xfrm>
            <a:off x="3309928" y="2996357"/>
            <a:ext cx="2524116" cy="578644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Recibe los mensajes y los almacena de forma persistente en el tópico </a:t>
            </a:r>
            <a:r>
              <a:rPr lang="en-US" sz="885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listos para ser consumidos.</a:t>
            </a:r>
            <a:endParaRPr lang="en-US" sz="942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400" y="1955155"/>
            <a:ext cx="450056" cy="4000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48356" y="2601664"/>
            <a:ext cx="2524144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Consumidor</a:t>
            </a:r>
            <a:endParaRPr lang="en-US" sz="1397" dirty="0"/>
          </a:p>
        </p:txBody>
      </p:sp>
      <p:sp>
        <p:nvSpPr>
          <p:cNvPr id="15" name="Text 9"/>
          <p:cNvSpPr/>
          <p:nvPr/>
        </p:nvSpPr>
        <p:spPr>
          <a:xfrm>
            <a:off x="6048356" y="2996357"/>
            <a:ext cx="2524144" cy="77152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Escucha el tópico y procesa cada pedido </a:t>
            </a:r>
            <a:r>
              <a:rPr lang="en-US" sz="885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instantáneamente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mostrándolo en la consola en tiempo real.</a:t>
            </a:r>
            <a:endParaRPr lang="en-US" sz="942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1804" y="2210544"/>
            <a:ext cx="228600" cy="22860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2118" y="2210544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546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21431" cy="15461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856106"/>
            <a:ext cx="8358188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Conclusión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85813" y="1339007"/>
            <a:ext cx="8358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es el estándar de oro para arquitecturas orientadas a eventos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2489150"/>
            <a:ext cx="247648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Resumen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571500" y="2865983"/>
            <a:ext cx="247648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Proporciona una base sólida para sistemas modernos que requieren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agilidad, escalabilidad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procesamiento en tiempo real de forma nativa.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3333731" y="2489150"/>
            <a:ext cx="2476509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Impacto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3333731" y="2865983"/>
            <a:ext cx="24765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a las empresas reaccionar a los eventos en el momento exacto en que ocurren, transformando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crudos en valor inmediato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el negocio.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095991" y="2489150"/>
            <a:ext cx="247648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Futuro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6095991" y="2865983"/>
            <a:ext cx="247648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la evolución hacia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KRaft</a:t>
            </a:r>
            <a:r>
              <a:rPr lang="en-US" sz="942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la potencia de Kafka Streams, la plataforma sigue simplificándose mientras expande sus capacidades de procesamiento.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8681" y="1808206"/>
            <a:ext cx="3550444" cy="1009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s-MX" sz="3294" b="1" dirty="0"/>
              <a:t>¡GRACIAS POR SU ATENCIÓN! </a:t>
            </a:r>
            <a:endParaRPr lang="en-US" sz="3294" b="1" dirty="0"/>
          </a:p>
        </p:txBody>
      </p:sp>
      <p:sp>
        <p:nvSpPr>
          <p:cNvPr id="7" name="Text 4"/>
          <p:cNvSpPr/>
          <p:nvPr/>
        </p:nvSpPr>
        <p:spPr>
          <a:xfrm>
            <a:off x="4714874" y="1700212"/>
            <a:ext cx="3857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717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Recursos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714871" y="2028826"/>
            <a:ext cx="3857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Web:</a:t>
            </a: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kafka.apache.org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714872" y="2357440"/>
            <a:ext cx="3857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GitHub:</a:t>
            </a: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apache/kafka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Darkai Arimatsu</cp:lastModifiedBy>
  <cp:revision>3</cp:revision>
  <dcterms:created xsi:type="dcterms:W3CDTF">2026-03-25T23:23:45Z</dcterms:created>
  <dcterms:modified xsi:type="dcterms:W3CDTF">2026-03-27T00:20:55Z</dcterms:modified>
</cp:coreProperties>
</file>